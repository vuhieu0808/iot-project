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ebas Neue" charset="1" panose="00000500000000000000"/>
      <p:regular r:id="rId15"/>
    </p:embeddedFont>
    <p:embeddedFont>
      <p:font typeface="Barlow Bold" charset="1" panose="00000800000000000000"/>
      <p:regular r:id="rId16"/>
    </p:embeddedFont>
    <p:embeddedFont>
      <p:font typeface="Public Sans" charset="1" panose="00000000000000000000"/>
      <p:regular r:id="rId17"/>
    </p:embeddedFont>
    <p:embeddedFont>
      <p:font typeface="Barlow" charset="1" panose="00000500000000000000"/>
      <p:regular r:id="rId18"/>
    </p:embeddedFont>
    <p:embeddedFont>
      <p:font typeface="Montserrat Bold" charset="1" panose="00000800000000000000"/>
      <p:regular r:id="rId19"/>
    </p:embeddedFont>
    <p:embeddedFont>
      <p:font typeface="Noto Sans" charset="1" panose="020B0502040504020204"/>
      <p:regular r:id="rId20"/>
    </p:embeddedFont>
    <p:embeddedFont>
      <p:font typeface="Barlow Italics" charset="1" panose="00000500000000000000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28600" cy="10287000"/>
            <a:chOff x="0" y="0"/>
            <a:chExt cx="3048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4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8250" y="857250"/>
            <a:ext cx="133350" cy="133350"/>
            <a:chOff x="0" y="0"/>
            <a:chExt cx="177800" cy="177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76375" y="7620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9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8250" y="2800350"/>
            <a:ext cx="1078060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500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ĐỒ ÁN MÔN HỌC  ·  NHÓM 6  ·  Vật lý cho Công nghệ thông tin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250" y="3819525"/>
            <a:ext cx="1428750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5"/>
              </a:lnSpc>
            </a:pPr>
            <a:r>
              <a:rPr lang="en-US" sz="16500" spc="-16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250" y="5686425"/>
            <a:ext cx="15811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HỆ THỐNG QUẢN LÝ PHÒNG GYM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8250" y="6400800"/>
            <a:ext cx="158115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THÔNG MINH BẰNG </a:t>
            </a:r>
            <a:r>
              <a:rPr lang="en-US" sz="5100">
                <a:solidFill>
                  <a:srgbClr val="FF6A1A"/>
                </a:solidFill>
                <a:latin typeface="Public Sans"/>
                <a:ea typeface="Public Sans"/>
                <a:cs typeface="Public Sans"/>
                <a:sym typeface="Public Sans"/>
              </a:rPr>
              <a:t>RFID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8250" y="7620000"/>
            <a:ext cx="762000" cy="38100"/>
            <a:chOff x="0" y="0"/>
            <a:chExt cx="101600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974556" y="7482523"/>
            <a:ext cx="11430000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2600">
                <a:solidFill>
                  <a:srgbClr val="BFBFBF"/>
                </a:solidFill>
                <a:latin typeface="Barlow"/>
                <a:ea typeface="Barlow"/>
                <a:cs typeface="Barlow"/>
                <a:sym typeface="Barlow"/>
              </a:rPr>
              <a:t>Vũ Trần Minh Hiếu  ·  24127003</a:t>
            </a:r>
          </a:p>
          <a:p>
            <a:pPr algn="r">
              <a:lnSpc>
                <a:spcPts val="3640"/>
              </a:lnSpc>
            </a:pPr>
            <a:r>
              <a:rPr lang="en-US" sz="2600">
                <a:solidFill>
                  <a:srgbClr val="BFBFBF"/>
                </a:solidFill>
                <a:latin typeface="Barlow"/>
                <a:ea typeface="Barlow"/>
                <a:cs typeface="Barlow"/>
                <a:sym typeface="Barlow"/>
              </a:rPr>
              <a:t>Hoàng Đức Thịnh  ·  24127240</a:t>
            </a:r>
          </a:p>
          <a:p>
            <a:pPr algn="r">
              <a:lnSpc>
                <a:spcPts val="3640"/>
              </a:lnSpc>
            </a:pPr>
            <a:r>
              <a:rPr lang="en-US" sz="2600">
                <a:solidFill>
                  <a:srgbClr val="BFBFBF"/>
                </a:solidFill>
                <a:latin typeface="Barlow"/>
                <a:ea typeface="Barlow"/>
                <a:cs typeface="Barlow"/>
                <a:sym typeface="Barlow"/>
              </a:rPr>
              <a:t>Trần Viết Bảo  ·  24127270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8650"/>
            <a:ext cx="133350" cy="133350"/>
            <a:chOff x="0" y="0"/>
            <a:chExt cx="1778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334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>
                <a:solidFill>
                  <a:srgbClr val="0D0D0D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65443" y="542925"/>
            <a:ext cx="287955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Lý do chọn đề tài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952500"/>
            <a:ext cx="16002000" cy="0"/>
          </a:xfrm>
          <a:prstGeom prst="line">
            <a:avLst/>
          </a:prstGeom>
          <a:ln cap="flat" w="9525">
            <a:solidFill>
              <a:srgbClr val="E2E0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13906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12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1876425"/>
            <a:ext cx="133350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spc="54">
                <a:solidFill>
                  <a:srgbClr val="0D0D0D"/>
                </a:solidFill>
                <a:latin typeface="Barlow"/>
                <a:ea typeface="Barlow"/>
                <a:cs typeface="Barlow"/>
                <a:sym typeface="Barlow"/>
              </a:rPr>
              <a:t>LÝ DO CHỌN ĐỀ TÀI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048000"/>
            <a:ext cx="762000" cy="38100"/>
            <a:chOff x="0" y="0"/>
            <a:chExt cx="10160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3500" y="3810000"/>
            <a:ext cx="4953000" cy="4070985"/>
            <a:chOff x="0" y="0"/>
            <a:chExt cx="6604000" cy="542798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604000" cy="5427980"/>
              <a:chOff x="0" y="0"/>
              <a:chExt cx="6604000" cy="54279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604000" cy="5427980"/>
              </a:xfrm>
              <a:custGeom>
                <a:avLst/>
                <a:gdLst/>
                <a:ahLst/>
                <a:cxnLst/>
                <a:rect r="r" b="b" t="t" l="l"/>
                <a:pathLst>
                  <a:path h="542798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427980"/>
                    </a:lnTo>
                    <a:lnTo>
                      <a:pt x="0" y="54279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604000" cy="54660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593725"/>
              <a:ext cx="2540000" cy="1011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-US" sz="5400">
                  <a:solidFill>
                    <a:srgbClr val="FF6A1A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01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508000" y="1892300"/>
              <a:ext cx="609600" cy="38100"/>
              <a:chOff x="0" y="0"/>
              <a:chExt cx="609600" cy="381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09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09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08000" y="2276475"/>
              <a:ext cx="5588000" cy="923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Quản lý thủ công tốn thời gian và công sức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08000" y="3508375"/>
              <a:ext cx="5588000" cy="998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8"/>
                </a:lnSpc>
              </a:pPr>
              <a:r>
                <a:rPr lang="en-US" sz="2129">
                  <a:solidFill>
                    <a:srgbClr val="0D0D0D"/>
                  </a:solidFill>
                  <a:latin typeface="Barlow"/>
                  <a:ea typeface="Barlow"/>
                  <a:cs typeface="Barlow"/>
                  <a:sym typeface="Barlow"/>
                </a:rPr>
                <a:t>Khó kiểm soát locker, máy tập và thành viên khi số lượng tăng cao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67500" y="3845243"/>
            <a:ext cx="4953000" cy="4004557"/>
            <a:chOff x="0" y="0"/>
            <a:chExt cx="6604000" cy="533940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604000" cy="5339409"/>
              <a:chOff x="0" y="0"/>
              <a:chExt cx="6037943" cy="488174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037943" cy="4881745"/>
              </a:xfrm>
              <a:custGeom>
                <a:avLst/>
                <a:gdLst/>
                <a:ahLst/>
                <a:cxnLst/>
                <a:rect r="r" b="b" t="t" l="l"/>
                <a:pathLst>
                  <a:path h="4881745" w="6037943">
                    <a:moveTo>
                      <a:pt x="0" y="0"/>
                    </a:moveTo>
                    <a:lnTo>
                      <a:pt x="6037943" y="0"/>
                    </a:lnTo>
                    <a:lnTo>
                      <a:pt x="6037943" y="4881745"/>
                    </a:lnTo>
                    <a:lnTo>
                      <a:pt x="0" y="488174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037943" cy="49198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37200" y="641350"/>
              <a:ext cx="2685998" cy="1011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-US" sz="5400">
                  <a:solidFill>
                    <a:srgbClr val="FF6A1A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02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537200" y="1800146"/>
              <a:ext cx="644639" cy="41672"/>
              <a:chOff x="0" y="0"/>
              <a:chExt cx="589385" cy="381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89385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589385">
                    <a:moveTo>
                      <a:pt x="0" y="0"/>
                    </a:moveTo>
                    <a:lnTo>
                      <a:pt x="589385" y="0"/>
                    </a:lnTo>
                    <a:lnTo>
                      <a:pt x="58938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89385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37200" y="2304574"/>
              <a:ext cx="5909195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Xu hướng RFID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37200" y="3195955"/>
              <a:ext cx="5909195" cy="985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2"/>
                </a:lnSpc>
              </a:pPr>
              <a:r>
                <a:rPr lang="en-US" sz="2132">
                  <a:solidFill>
                    <a:srgbClr val="0D0D0D"/>
                  </a:solidFill>
                  <a:latin typeface="Barlow"/>
                  <a:ea typeface="Barlow"/>
                  <a:cs typeface="Barlow"/>
                  <a:sym typeface="Barlow"/>
                </a:rPr>
                <a:t>Công nghệ hiện đại, tiện lợi và được ứng dụng rộng rãi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21553" y="3855419"/>
            <a:ext cx="4873703" cy="4038634"/>
            <a:chOff x="0" y="0"/>
            <a:chExt cx="6498271" cy="538484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498271" cy="5384845"/>
              <a:chOff x="0" y="0"/>
              <a:chExt cx="7055266" cy="584640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055266" cy="5846404"/>
              </a:xfrm>
              <a:custGeom>
                <a:avLst/>
                <a:gdLst/>
                <a:ahLst/>
                <a:cxnLst/>
                <a:rect r="r" b="b" t="t" l="l"/>
                <a:pathLst>
                  <a:path h="5846404" w="7055266">
                    <a:moveTo>
                      <a:pt x="0" y="0"/>
                    </a:moveTo>
                    <a:lnTo>
                      <a:pt x="7055266" y="0"/>
                    </a:lnTo>
                    <a:lnTo>
                      <a:pt x="7055266" y="5846404"/>
                    </a:lnTo>
                    <a:lnTo>
                      <a:pt x="0" y="58464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7055266" cy="58845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701842" y="500280"/>
              <a:ext cx="2339474" cy="1011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-US" sz="5400">
                  <a:solidFill>
                    <a:srgbClr val="FF6A1A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03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701842" y="1827664"/>
              <a:ext cx="561474" cy="35092"/>
              <a:chOff x="0" y="0"/>
              <a:chExt cx="609600" cy="381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09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09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701842" y="2169060"/>
              <a:ext cx="4912175" cy="923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Phù hợp với kiến thức đã học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701842" y="3361189"/>
              <a:ext cx="5146842" cy="478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8"/>
                </a:lnSpc>
              </a:pPr>
              <a:r>
                <a:rPr lang="en-US" sz="2129">
                  <a:solidFill>
                    <a:srgbClr val="0D0D0D"/>
                  </a:solidFill>
                  <a:latin typeface="Barlow"/>
                  <a:ea typeface="Barlow"/>
                  <a:cs typeface="Barlow"/>
                  <a:sym typeface="Barlow"/>
                </a:rPr>
                <a:t>ESP32, Node-RED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8650"/>
            <a:ext cx="133350" cy="133350"/>
            <a:chOff x="0" y="0"/>
            <a:chExt cx="1778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334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28158" y="542925"/>
            <a:ext cx="181684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8A8A8A"/>
                </a:solidFill>
                <a:latin typeface="Barlow"/>
                <a:ea typeface="Barlow"/>
                <a:cs typeface="Barlow"/>
                <a:sym typeface="Barlow"/>
              </a:rPr>
              <a:t>Giới thiệu sản phẩm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952500"/>
            <a:ext cx="16002000" cy="0"/>
          </a:xfrm>
          <a:prstGeom prst="line">
            <a:avLst/>
          </a:prstGeom>
          <a:ln cap="flat" w="9525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13906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12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2057400"/>
            <a:ext cx="9525000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81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GIỚI THIỆU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3200400"/>
            <a:ext cx="9525000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8100">
                <a:solidFill>
                  <a:srgbClr val="FF6A1A"/>
                </a:solidFill>
                <a:latin typeface="Barlow"/>
                <a:ea typeface="Barlow"/>
                <a:cs typeface="Barlow"/>
                <a:sym typeface="Barlow"/>
              </a:rPr>
              <a:t>GymTag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4410075"/>
            <a:ext cx="7429500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E6E6E6"/>
                </a:solidFill>
                <a:latin typeface="Barlow"/>
                <a:ea typeface="Barlow"/>
                <a:cs typeface="Barlow"/>
                <a:sym typeface="Barlow"/>
              </a:rPr>
              <a:t>GymTag là hệ thống IoT tích hợp RFID, ESP32 và Node-RED, tự động hoá check-in, quản lý locker và máy tập, giám sát môi trường phòng gym theo thời gian thực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000" y="7239000"/>
            <a:ext cx="952500" cy="419100"/>
            <a:chOff x="0" y="0"/>
            <a:chExt cx="1270000" cy="55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00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558800"/>
                  </a:lnTo>
                  <a:lnTo>
                    <a:pt x="0" y="558800"/>
                  </a:lnTo>
                  <a:close/>
                </a:path>
              </a:pathLst>
            </a:custGeom>
            <a:ln w="9525" cap="sq">
              <a:solidFill>
                <a:srgbClr val="FF6A1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0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43000" y="7315200"/>
            <a:ext cx="95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270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RFID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228850" y="7239000"/>
            <a:ext cx="1095375" cy="419100"/>
            <a:chOff x="0" y="0"/>
            <a:chExt cx="1460500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05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0500">
                  <a:moveTo>
                    <a:pt x="0" y="0"/>
                  </a:moveTo>
                  <a:lnTo>
                    <a:pt x="1460500" y="0"/>
                  </a:lnTo>
                  <a:lnTo>
                    <a:pt x="1460500" y="558800"/>
                  </a:lnTo>
                  <a:lnTo>
                    <a:pt x="0" y="558800"/>
                  </a:lnTo>
                  <a:close/>
                </a:path>
              </a:pathLst>
            </a:custGeom>
            <a:ln w="9525" cap="sq">
              <a:solidFill>
                <a:srgbClr val="FF6A1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05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28850" y="7315200"/>
            <a:ext cx="1095375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270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ESP32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457575" y="7239000"/>
            <a:ext cx="1524000" cy="419100"/>
            <a:chOff x="0" y="0"/>
            <a:chExt cx="2032000" cy="55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0" cy="558800"/>
            </a:xfrm>
            <a:custGeom>
              <a:avLst/>
              <a:gdLst/>
              <a:ahLst/>
              <a:cxnLst/>
              <a:rect r="r" b="b" t="t" l="l"/>
              <a:pathLst>
                <a:path h="558800" w="2032000">
                  <a:moveTo>
                    <a:pt x="0" y="0"/>
                  </a:moveTo>
                  <a:lnTo>
                    <a:pt x="2032000" y="0"/>
                  </a:lnTo>
                  <a:lnTo>
                    <a:pt x="2032000" y="558800"/>
                  </a:lnTo>
                  <a:lnTo>
                    <a:pt x="0" y="558800"/>
                  </a:lnTo>
                  <a:close/>
                </a:path>
              </a:pathLst>
            </a:custGeom>
            <a:ln w="9525" cap="sq">
              <a:solidFill>
                <a:srgbClr val="FF6A1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32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457575" y="7315200"/>
            <a:ext cx="152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270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NODE-RED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114925" y="7239000"/>
            <a:ext cx="952500" cy="419100"/>
            <a:chOff x="0" y="0"/>
            <a:chExt cx="1270000" cy="55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00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558800"/>
                  </a:lnTo>
                  <a:lnTo>
                    <a:pt x="0" y="558800"/>
                  </a:lnTo>
                  <a:close/>
                </a:path>
              </a:pathLst>
            </a:custGeom>
            <a:ln w="9525" cap="sq">
              <a:solidFill>
                <a:srgbClr val="FF6A1A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00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114925" y="7315200"/>
            <a:ext cx="952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270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MQTT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200775" y="7239000"/>
            <a:ext cx="1666875" cy="419100"/>
            <a:chOff x="0" y="0"/>
            <a:chExt cx="2222500" cy="55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22500" cy="558800"/>
            </a:xfrm>
            <a:custGeom>
              <a:avLst/>
              <a:gdLst/>
              <a:ahLst/>
              <a:cxnLst/>
              <a:rect r="r" b="b" t="t" l="l"/>
              <a:pathLst>
                <a:path h="558800" w="2222500">
                  <a:moveTo>
                    <a:pt x="0" y="0"/>
                  </a:moveTo>
                  <a:lnTo>
                    <a:pt x="2222500" y="0"/>
                  </a:lnTo>
                  <a:lnTo>
                    <a:pt x="2222500" y="558800"/>
                  </a:lnTo>
                  <a:lnTo>
                    <a:pt x="0" y="558800"/>
                  </a:lnTo>
                  <a:close/>
                </a:path>
              </a:pathLst>
            </a:custGeom>
            <a:ln w="9525" cap="sq">
              <a:solidFill>
                <a:srgbClr val="FF6A1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2225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200775" y="7315200"/>
            <a:ext cx="1666875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 spc="270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DASHBOARD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287000" y="1809750"/>
            <a:ext cx="3048000" cy="1714500"/>
            <a:chOff x="0" y="0"/>
            <a:chExt cx="4064000" cy="228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06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0" y="1809750"/>
            <a:ext cx="57150" cy="1714500"/>
            <a:chOff x="0" y="0"/>
            <a:chExt cx="76200" cy="2286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572750" y="242887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RFID + Sensors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572750" y="2066925"/>
            <a:ext cx="571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01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620750" y="1809750"/>
            <a:ext cx="3048000" cy="1714500"/>
            <a:chOff x="0" y="0"/>
            <a:chExt cx="4064000" cy="2286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06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20750" y="1809750"/>
            <a:ext cx="57150" cy="1714500"/>
            <a:chOff x="0" y="0"/>
            <a:chExt cx="76200" cy="2286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906500" y="242887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ESP32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906500" y="2066925"/>
            <a:ext cx="571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02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287000" y="4191000"/>
            <a:ext cx="3048000" cy="1714500"/>
            <a:chOff x="0" y="0"/>
            <a:chExt cx="4064000" cy="2286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06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0" y="4191000"/>
            <a:ext cx="57150" cy="1714500"/>
            <a:chOff x="0" y="0"/>
            <a:chExt cx="76200" cy="2286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572750" y="481012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MQTT / Node-RED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572750" y="4448175"/>
            <a:ext cx="571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03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3620750" y="4191000"/>
            <a:ext cx="3048000" cy="1714500"/>
            <a:chOff x="0" y="0"/>
            <a:chExt cx="4064000" cy="2286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6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620750" y="4191000"/>
            <a:ext cx="57150" cy="1714500"/>
            <a:chOff x="0" y="0"/>
            <a:chExt cx="76200" cy="2286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62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3906500" y="481012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+ Cloud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906500" y="4448175"/>
            <a:ext cx="571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04</a:t>
            </a:r>
          </a:p>
        </p:txBody>
      </p:sp>
      <p:sp>
        <p:nvSpPr>
          <p:cNvPr name="AutoShape 63" id="63"/>
          <p:cNvSpPr/>
          <p:nvPr/>
        </p:nvSpPr>
        <p:spPr>
          <a:xfrm>
            <a:off x="13335000" y="2667000"/>
            <a:ext cx="285750" cy="0"/>
          </a:xfrm>
          <a:prstGeom prst="line">
            <a:avLst/>
          </a:prstGeom>
          <a:ln cap="rnd" w="19050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11811000" y="3524250"/>
            <a:ext cx="0" cy="666750"/>
          </a:xfrm>
          <a:prstGeom prst="line">
            <a:avLst/>
          </a:prstGeom>
          <a:ln cap="rnd" w="19050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15144750" y="3524250"/>
            <a:ext cx="0" cy="666750"/>
          </a:xfrm>
          <a:prstGeom prst="line">
            <a:avLst/>
          </a:prstGeom>
          <a:ln cap="rnd" w="19050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3335000" y="5048250"/>
            <a:ext cx="285750" cy="0"/>
          </a:xfrm>
          <a:prstGeom prst="line">
            <a:avLst/>
          </a:prstGeom>
          <a:ln cap="rnd" w="19050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7" id="6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8650"/>
            <a:ext cx="133350" cy="133350"/>
            <a:chOff x="0" y="0"/>
            <a:chExt cx="1778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334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>
                <a:solidFill>
                  <a:srgbClr val="0D0D0D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01900" y="542925"/>
            <a:ext cx="19431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Chức năng chính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952500"/>
            <a:ext cx="16002000" cy="0"/>
          </a:xfrm>
          <a:prstGeom prst="line">
            <a:avLst/>
          </a:prstGeom>
          <a:ln cap="flat" w="9525">
            <a:solidFill>
              <a:srgbClr val="E2E0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13906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12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1876425"/>
            <a:ext cx="133350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spc="54">
                <a:solidFill>
                  <a:srgbClr val="0D0D0D"/>
                </a:solidFill>
                <a:latin typeface="Barlow"/>
                <a:ea typeface="Barlow"/>
                <a:cs typeface="Barlow"/>
                <a:sym typeface="Barlow"/>
              </a:rPr>
              <a:t>CHỨC NĂNG CHÍNH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048000"/>
            <a:ext cx="762000" cy="38100"/>
            <a:chOff x="0" y="0"/>
            <a:chExt cx="10160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81100" y="3810000"/>
            <a:ext cx="3810000" cy="4762500"/>
            <a:chOff x="0" y="0"/>
            <a:chExt cx="5080000" cy="6350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080000" cy="6350000"/>
              <a:chOff x="0" y="0"/>
              <a:chExt cx="508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08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D0D0D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080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469900"/>
              <a:ext cx="254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33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" y="1152525"/>
              <a:ext cx="4064000" cy="100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Check-in &amp; Check-out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508000" y="2921000"/>
              <a:ext cx="508000" cy="38100"/>
              <a:chOff x="0" y="0"/>
              <a:chExt cx="508000" cy="381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080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5080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080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08000" y="3254375"/>
              <a:ext cx="4064000" cy="80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Quẹt thẻ tại cửa, kiểm tra hạn thành viên tự động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19700" y="3810000"/>
            <a:ext cx="3810000" cy="4762500"/>
            <a:chOff x="0" y="0"/>
            <a:chExt cx="5080000" cy="6350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080000" cy="6350000"/>
              <a:chOff x="0" y="0"/>
              <a:chExt cx="508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08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080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429000" y="4714875"/>
              <a:ext cx="1524000" cy="153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250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08000" y="469900"/>
              <a:ext cx="254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33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02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08000" y="1152525"/>
              <a:ext cx="4064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Quản lý tủ locker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508000" y="2921000"/>
              <a:ext cx="508000" cy="38100"/>
              <a:chOff x="0" y="0"/>
              <a:chExt cx="508000" cy="381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080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5080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5080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508000" y="3254375"/>
              <a:ext cx="4064000" cy="80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Quẹt thẻ lấy/trả locker, tự động tìm locker còn trống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58300" y="3810000"/>
            <a:ext cx="3810000" cy="4762500"/>
            <a:chOff x="0" y="0"/>
            <a:chExt cx="5080000" cy="6350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5080000" cy="6350000"/>
              <a:chOff x="0" y="0"/>
              <a:chExt cx="5080000" cy="6350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508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5080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429000" y="4714875"/>
              <a:ext cx="1524000" cy="153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250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08000" y="469900"/>
              <a:ext cx="254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33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03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08000" y="1152525"/>
              <a:ext cx="4064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Quản lý máy tập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508000" y="2921000"/>
              <a:ext cx="508000" cy="38100"/>
              <a:chOff x="0" y="0"/>
              <a:chExt cx="508000" cy="381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080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5080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5080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508000" y="3254375"/>
              <a:ext cx="4064000" cy="80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Quẹt thẻ để mượn máy, đếm thời gian sử dụng máy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296900" y="3810000"/>
            <a:ext cx="3810000" cy="4762500"/>
            <a:chOff x="0" y="0"/>
            <a:chExt cx="5080000" cy="63500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5080000" cy="6350000"/>
              <a:chOff x="0" y="0"/>
              <a:chExt cx="5080000" cy="6350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508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5080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3429000" y="4714875"/>
              <a:ext cx="1524000" cy="1533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250"/>
                </a:lnSpc>
              </a:pP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508000" y="469900"/>
              <a:ext cx="254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33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04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508000" y="1152525"/>
              <a:ext cx="4064000" cy="100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Giám sát</a:t>
              </a:r>
            </a:p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môi trường</a:t>
              </a:r>
            </a:p>
          </p:txBody>
        </p:sp>
        <p:grpSp>
          <p:nvGrpSpPr>
            <p:cNvPr name="Group 51" id="51"/>
            <p:cNvGrpSpPr/>
            <p:nvPr/>
          </p:nvGrpSpPr>
          <p:grpSpPr>
            <a:xfrm rot="0">
              <a:off x="508000" y="2921000"/>
              <a:ext cx="508000" cy="38100"/>
              <a:chOff x="0" y="0"/>
              <a:chExt cx="508000" cy="381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080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508000">
                    <a:moveTo>
                      <a:pt x="0" y="0"/>
                    </a:moveTo>
                    <a:lnTo>
                      <a:pt x="508000" y="0"/>
                    </a:lnTo>
                    <a:lnTo>
                      <a:pt x="5080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5080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508000" y="3254375"/>
              <a:ext cx="4064000" cy="802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Theo dõi nhiệt độ, độ ẩm - cảnh báo khi vượt ngưỡng an toàn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8650"/>
            <a:ext cx="133350" cy="133350"/>
            <a:chOff x="0" y="0"/>
            <a:chExt cx="1778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334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>
                <a:solidFill>
                  <a:srgbClr val="0D0D0D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84836" y="542925"/>
            <a:ext cx="176016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Kiến trúc hệ thống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952500"/>
            <a:ext cx="16002000" cy="0"/>
          </a:xfrm>
          <a:prstGeom prst="line">
            <a:avLst/>
          </a:prstGeom>
          <a:ln cap="flat" w="9525">
            <a:solidFill>
              <a:srgbClr val="E2E0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13906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12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1876425"/>
            <a:ext cx="133350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spc="54">
                <a:solidFill>
                  <a:srgbClr val="0D0D0D"/>
                </a:solidFill>
                <a:latin typeface="Barlow"/>
                <a:ea typeface="Barlow"/>
                <a:cs typeface="Barlow"/>
                <a:sym typeface="Barlow"/>
              </a:rPr>
              <a:t>KIẾN TRÚC HỆ THỐNG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048000"/>
            <a:ext cx="762000" cy="38100"/>
            <a:chOff x="0" y="0"/>
            <a:chExt cx="10160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3500" y="4762500"/>
            <a:ext cx="2667000" cy="1905000"/>
            <a:chOff x="0" y="0"/>
            <a:chExt cx="3556000" cy="2540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3556000" cy="2540000"/>
              <a:chOff x="0" y="0"/>
              <a:chExt cx="3556000" cy="254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56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3556000">
                    <a:moveTo>
                      <a:pt x="0" y="0"/>
                    </a:moveTo>
                    <a:lnTo>
                      <a:pt x="3556000" y="0"/>
                    </a:lnTo>
                    <a:lnTo>
                      <a:pt x="3556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6A1A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556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048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04800" y="967105"/>
              <a:ext cx="29464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Cảm biến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4057650" y="5715000"/>
            <a:ext cx="457200" cy="0"/>
          </a:xfrm>
          <a:prstGeom prst="line">
            <a:avLst/>
          </a:prstGeom>
          <a:ln cap="rnd" w="28575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4438650" y="5619750"/>
            <a:ext cx="133350" cy="190500"/>
            <a:chOff x="0" y="0"/>
            <a:chExt cx="177800" cy="25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78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">
                  <a:moveTo>
                    <a:pt x="0" y="0"/>
                  </a:moveTo>
                  <a:lnTo>
                    <a:pt x="177800" y="127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572000" y="4762500"/>
            <a:ext cx="2667000" cy="1905000"/>
            <a:chOff x="0" y="0"/>
            <a:chExt cx="3556000" cy="2540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556000" cy="2540000"/>
              <a:chOff x="0" y="0"/>
              <a:chExt cx="3556000" cy="254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556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3556000">
                    <a:moveTo>
                      <a:pt x="0" y="0"/>
                    </a:moveTo>
                    <a:lnTo>
                      <a:pt x="3556000" y="0"/>
                    </a:lnTo>
                    <a:lnTo>
                      <a:pt x="3556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556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048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02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04800" y="967105"/>
              <a:ext cx="29464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ESP32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04800" y="1558925"/>
              <a:ext cx="29464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7296150" y="5715000"/>
            <a:ext cx="457200" cy="0"/>
          </a:xfrm>
          <a:prstGeom prst="line">
            <a:avLst/>
          </a:prstGeom>
          <a:ln cap="rnd" w="28575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7677150" y="5619750"/>
            <a:ext cx="133350" cy="190500"/>
            <a:chOff x="0" y="0"/>
            <a:chExt cx="177800" cy="25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8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">
                  <a:moveTo>
                    <a:pt x="0" y="0"/>
                  </a:moveTo>
                  <a:lnTo>
                    <a:pt x="177800" y="127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810500" y="4762500"/>
            <a:ext cx="2667000" cy="1905000"/>
            <a:chOff x="0" y="0"/>
            <a:chExt cx="3556000" cy="254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3556000" cy="2540000"/>
              <a:chOff x="0" y="0"/>
              <a:chExt cx="3556000" cy="2540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556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3556000">
                    <a:moveTo>
                      <a:pt x="0" y="0"/>
                    </a:moveTo>
                    <a:lnTo>
                      <a:pt x="3556000" y="0"/>
                    </a:lnTo>
                    <a:lnTo>
                      <a:pt x="3556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3556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048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03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04800" y="967105"/>
              <a:ext cx="29464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MQTT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04800" y="1558925"/>
              <a:ext cx="29464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0534650" y="5715000"/>
            <a:ext cx="457200" cy="0"/>
          </a:xfrm>
          <a:prstGeom prst="line">
            <a:avLst/>
          </a:prstGeom>
          <a:ln cap="rnd" w="28575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0915650" y="5619750"/>
            <a:ext cx="133350" cy="190500"/>
            <a:chOff x="0" y="0"/>
            <a:chExt cx="177800" cy="25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78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">
                  <a:moveTo>
                    <a:pt x="0" y="0"/>
                  </a:moveTo>
                  <a:lnTo>
                    <a:pt x="177800" y="127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049000" y="4762500"/>
            <a:ext cx="2667000" cy="1905000"/>
            <a:chOff x="0" y="0"/>
            <a:chExt cx="3556000" cy="2540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3556000" cy="2540000"/>
              <a:chOff x="0" y="0"/>
              <a:chExt cx="3556000" cy="2540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556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3556000">
                    <a:moveTo>
                      <a:pt x="0" y="0"/>
                    </a:moveTo>
                    <a:lnTo>
                      <a:pt x="3556000" y="0"/>
                    </a:lnTo>
                    <a:lnTo>
                      <a:pt x="3556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3556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3048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04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04800" y="967105"/>
              <a:ext cx="29464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Node-RED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04800" y="1558925"/>
              <a:ext cx="29464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</a:p>
          </p:txBody>
        </p:sp>
      </p:grpSp>
      <p:sp>
        <p:nvSpPr>
          <p:cNvPr name="AutoShape 48" id="48"/>
          <p:cNvSpPr/>
          <p:nvPr/>
        </p:nvSpPr>
        <p:spPr>
          <a:xfrm>
            <a:off x="13773150" y="5715000"/>
            <a:ext cx="457200" cy="0"/>
          </a:xfrm>
          <a:prstGeom prst="line">
            <a:avLst/>
          </a:prstGeom>
          <a:ln cap="rnd" w="28575">
            <a:solidFill>
              <a:srgbClr val="FF6A1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14154150" y="5619750"/>
            <a:ext cx="133350" cy="190500"/>
            <a:chOff x="0" y="0"/>
            <a:chExt cx="177800" cy="254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7800" cy="254000"/>
            </a:xfrm>
            <a:custGeom>
              <a:avLst/>
              <a:gdLst/>
              <a:ahLst/>
              <a:cxnLst/>
              <a:rect r="r" b="b" t="t" l="l"/>
              <a:pathLst>
                <a:path h="254000" w="177800">
                  <a:moveTo>
                    <a:pt x="0" y="0"/>
                  </a:moveTo>
                  <a:lnTo>
                    <a:pt x="177800" y="127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4287500" y="4762500"/>
            <a:ext cx="2667000" cy="1905000"/>
            <a:chOff x="0" y="0"/>
            <a:chExt cx="3556000" cy="25400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3556000" cy="2540000"/>
              <a:chOff x="0" y="0"/>
              <a:chExt cx="3556000" cy="25400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3556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3556000">
                    <a:moveTo>
                      <a:pt x="0" y="0"/>
                    </a:moveTo>
                    <a:lnTo>
                      <a:pt x="3556000" y="0"/>
                    </a:lnTo>
                    <a:lnTo>
                      <a:pt x="3556000" y="2540000"/>
                    </a:lnTo>
                    <a:lnTo>
                      <a:pt x="0" y="2540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FF6A1A"/>
                </a:solidFill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3556000" cy="257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3048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05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304800" y="967105"/>
              <a:ext cx="29464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304800" y="1558925"/>
              <a:ext cx="29464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190750" y="7429500"/>
            <a:ext cx="4381500" cy="1143000"/>
            <a:chOff x="0" y="0"/>
            <a:chExt cx="5842000" cy="1524000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5842000" cy="1524000"/>
              <a:chOff x="0" y="0"/>
              <a:chExt cx="5842000" cy="15240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5842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5842000">
                    <a:moveTo>
                      <a:pt x="0" y="0"/>
                    </a:moveTo>
                    <a:lnTo>
                      <a:pt x="5842000" y="0"/>
                    </a:lnTo>
                    <a:lnTo>
                      <a:pt x="5842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5842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0" y="0"/>
              <a:ext cx="76200" cy="1524000"/>
              <a:chOff x="0" y="0"/>
              <a:chExt cx="76200" cy="15240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762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762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381000" y="266700"/>
              <a:ext cx="508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Cloud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381000" y="809625"/>
              <a:ext cx="508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FBFBF"/>
                  </a:solidFill>
                  <a:latin typeface="Barlow"/>
                  <a:ea typeface="Barlow"/>
                  <a:cs typeface="Barlow"/>
                  <a:sym typeface="Barlow"/>
                </a:rPr>
                <a:t>Firebase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953250" y="7429500"/>
            <a:ext cx="4381500" cy="1143000"/>
            <a:chOff x="0" y="0"/>
            <a:chExt cx="5842000" cy="152400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5842000" cy="1524000"/>
              <a:chOff x="0" y="0"/>
              <a:chExt cx="5842000" cy="15240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842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5842000">
                    <a:moveTo>
                      <a:pt x="0" y="0"/>
                    </a:moveTo>
                    <a:lnTo>
                      <a:pt x="5842000" y="0"/>
                    </a:lnTo>
                    <a:lnTo>
                      <a:pt x="5842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5842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0" y="0"/>
              <a:ext cx="76200" cy="1524000"/>
              <a:chOff x="0" y="0"/>
              <a:chExt cx="76200" cy="15240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762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762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0">
              <a:off x="381000" y="266700"/>
              <a:ext cx="508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Thông báo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381000" y="809625"/>
              <a:ext cx="508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FBFBF"/>
                  </a:solidFill>
                  <a:latin typeface="Barlow"/>
                  <a:ea typeface="Barlow"/>
                  <a:cs typeface="Barlow"/>
                  <a:sym typeface="Barlow"/>
                </a:rPr>
                <a:t>Telegram &amp; Pushsafer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715750" y="7429500"/>
            <a:ext cx="4381500" cy="1143000"/>
            <a:chOff x="0" y="0"/>
            <a:chExt cx="5842000" cy="1524000"/>
          </a:xfrm>
        </p:grpSpPr>
        <p:grpSp>
          <p:nvGrpSpPr>
            <p:cNvPr name="Group 77" id="77"/>
            <p:cNvGrpSpPr/>
            <p:nvPr/>
          </p:nvGrpSpPr>
          <p:grpSpPr>
            <a:xfrm rot="0">
              <a:off x="0" y="0"/>
              <a:ext cx="5842000" cy="1524000"/>
              <a:chOff x="0" y="0"/>
              <a:chExt cx="5842000" cy="15240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5842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5842000">
                    <a:moveTo>
                      <a:pt x="0" y="0"/>
                    </a:moveTo>
                    <a:lnTo>
                      <a:pt x="5842000" y="0"/>
                    </a:lnTo>
                    <a:lnTo>
                      <a:pt x="5842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38100"/>
                <a:ext cx="5842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0" y="0"/>
              <a:ext cx="76200" cy="1524000"/>
              <a:chOff x="0" y="0"/>
              <a:chExt cx="76200" cy="15240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762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762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3" id="83"/>
            <p:cNvSpPr txBox="true"/>
            <p:nvPr/>
          </p:nvSpPr>
          <p:spPr>
            <a:xfrm rot="0">
              <a:off x="381000" y="266700"/>
              <a:ext cx="508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Realtime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381000" y="809625"/>
              <a:ext cx="508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BFBFBF"/>
                  </a:solidFill>
                  <a:latin typeface="Barlow"/>
                  <a:ea typeface="Barlow"/>
                  <a:cs typeface="Barlow"/>
                  <a:sym typeface="Barlow"/>
                </a:rPr>
                <a:t>Dashboard giám sát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8650"/>
            <a:ext cx="133350" cy="133350"/>
            <a:chOff x="0" y="0"/>
            <a:chExt cx="1778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334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>
                <a:solidFill>
                  <a:srgbClr val="0D0D0D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88903" y="542925"/>
            <a:ext cx="225609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Danh sách thiết bị dự kiến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952500"/>
            <a:ext cx="16002000" cy="0"/>
          </a:xfrm>
          <a:prstGeom prst="line">
            <a:avLst/>
          </a:prstGeom>
          <a:ln cap="flat" w="9525">
            <a:solidFill>
              <a:srgbClr val="E2E0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13906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12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1876425"/>
            <a:ext cx="133350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spc="54">
                <a:solidFill>
                  <a:srgbClr val="0D0D0D"/>
                </a:solidFill>
                <a:latin typeface="Barlow"/>
                <a:ea typeface="Barlow"/>
                <a:cs typeface="Barlow"/>
                <a:sym typeface="Barlow"/>
              </a:rPr>
              <a:t>DANH SÁCH THIẾT BỊ DỰ KIẾN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048000"/>
            <a:ext cx="762000" cy="38100"/>
            <a:chOff x="0" y="0"/>
            <a:chExt cx="10160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3810000"/>
            <a:ext cx="7810500" cy="1238250"/>
            <a:chOff x="0" y="0"/>
            <a:chExt cx="10414000" cy="1651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414000" cy="1651000"/>
              <a:chOff x="0" y="0"/>
              <a:chExt cx="10414000" cy="1651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14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414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76200" cy="1651000"/>
              <a:chOff x="0" y="0"/>
              <a:chExt cx="76200" cy="165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62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762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080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651000" y="231775"/>
              <a:ext cx="838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ESP32 DevKit V1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51000" y="800100"/>
              <a:ext cx="838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Vi điều khiển trung tâm </a:t>
              </a: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- WiFi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34500" y="3810000"/>
            <a:ext cx="7810500" cy="1238250"/>
            <a:chOff x="0" y="0"/>
            <a:chExt cx="10414000" cy="1651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0414000" cy="1651000"/>
              <a:chOff x="0" y="0"/>
              <a:chExt cx="10414000" cy="1651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414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414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76200" cy="1651000"/>
              <a:chOff x="0" y="0"/>
              <a:chExt cx="76200" cy="1651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62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762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5080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02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651000" y="231775"/>
              <a:ext cx="838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RF RC522 + thẻ RFID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651000" y="800100"/>
              <a:ext cx="838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Module đọc/ghi thẻ tần số 13.56 MHz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3000" y="5238750"/>
            <a:ext cx="7810500" cy="1238250"/>
            <a:chOff x="0" y="0"/>
            <a:chExt cx="10414000" cy="1651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0414000" cy="1651000"/>
              <a:chOff x="0" y="0"/>
              <a:chExt cx="10414000" cy="1651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414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10414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76200" cy="1651000"/>
              <a:chOff x="0" y="0"/>
              <a:chExt cx="76200" cy="1651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62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762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5080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03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651000" y="231775"/>
              <a:ext cx="838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Reed switch + Servo SG90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651000" y="800100"/>
              <a:ext cx="838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Cảm biến cửa và khoá locker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34500" y="5238750"/>
            <a:ext cx="7810500" cy="1238250"/>
            <a:chOff x="0" y="0"/>
            <a:chExt cx="10414000" cy="16510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10414000" cy="1651000"/>
              <a:chOff x="0" y="0"/>
              <a:chExt cx="10414000" cy="1651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0414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0414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76200" cy="1651000"/>
              <a:chOff x="0" y="0"/>
              <a:chExt cx="76200" cy="16510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762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762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5080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04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651000" y="231775"/>
              <a:ext cx="838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DHT11 / DHT22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651000" y="800100"/>
              <a:ext cx="838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Đo nhiệt độ và độ ẩm môi trường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" y="6667500"/>
            <a:ext cx="7810500" cy="1238250"/>
            <a:chOff x="0" y="0"/>
            <a:chExt cx="10414000" cy="1651000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10414000" cy="1651000"/>
              <a:chOff x="0" y="0"/>
              <a:chExt cx="10414000" cy="16510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0414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10414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0"/>
              <a:ext cx="76200" cy="1651000"/>
              <a:chOff x="0" y="0"/>
              <a:chExt cx="76200" cy="16510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762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762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5080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05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651000" y="231775"/>
              <a:ext cx="838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LCD I2C, Buzzer, LED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651000" y="800100"/>
              <a:ext cx="838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Hiển thị trạng thái, tín hiệu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34500" y="6667500"/>
            <a:ext cx="7810500" cy="1238250"/>
            <a:chOff x="0" y="0"/>
            <a:chExt cx="10414000" cy="1651000"/>
          </a:xfrm>
        </p:grpSpPr>
        <p:grpSp>
          <p:nvGrpSpPr>
            <p:cNvPr name="Group 63" id="63"/>
            <p:cNvGrpSpPr/>
            <p:nvPr/>
          </p:nvGrpSpPr>
          <p:grpSpPr>
            <a:xfrm rot="0">
              <a:off x="0" y="0"/>
              <a:ext cx="10414000" cy="1651000"/>
              <a:chOff x="0" y="0"/>
              <a:chExt cx="10414000" cy="16510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0414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38100"/>
                <a:ext cx="10414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0" y="0"/>
              <a:ext cx="76200" cy="1651000"/>
              <a:chOff x="0" y="0"/>
              <a:chExt cx="76200" cy="16510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762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762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508000" y="276225"/>
              <a:ext cx="76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FF6A1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06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1651000" y="231775"/>
              <a:ext cx="8382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Relay, quạt mini, ...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651000" y="800100"/>
              <a:ext cx="8382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Mô hình</a:t>
              </a:r>
              <a:r>
                <a:rPr lang="en-US" sz="1650">
                  <a:solidFill>
                    <a:srgbClr val="6B6B6B"/>
                  </a:solidFill>
                  <a:latin typeface="Barlow"/>
                  <a:ea typeface="Barlow"/>
                  <a:cs typeface="Barlow"/>
                  <a:sym typeface="Barlow"/>
                </a:rPr>
                <a:t> demo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143000" y="9401175"/>
            <a:ext cx="1600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i="true">
                <a:solidFill>
                  <a:srgbClr val="6B6B6B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Ghi chú: Bảng báo giá chi tiết sẽ có trong báo cáo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8650"/>
            <a:ext cx="133350" cy="133350"/>
            <a:chOff x="0" y="0"/>
            <a:chExt cx="1778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334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554871" y="542925"/>
            <a:ext cx="15901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8A8A8A"/>
                </a:solidFill>
                <a:latin typeface="Barlow"/>
                <a:ea typeface="Barlow"/>
                <a:cs typeface="Barlow"/>
                <a:sym typeface="Barlow"/>
              </a:rPr>
              <a:t>Kế hoạch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952500"/>
            <a:ext cx="16002000" cy="0"/>
          </a:xfrm>
          <a:prstGeom prst="line">
            <a:avLst/>
          </a:prstGeom>
          <a:ln cap="flat" w="9525">
            <a:solidFill>
              <a:srgbClr val="2A2A2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13906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12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1876425"/>
            <a:ext cx="133350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spc="54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KẾ HOẠCH THỰC HIỆN TRONG 5 TUẦN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048000"/>
            <a:ext cx="762000" cy="38100"/>
            <a:chOff x="0" y="0"/>
            <a:chExt cx="10160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714500" y="6096000"/>
            <a:ext cx="14859000" cy="0"/>
          </a:xfrm>
          <a:prstGeom prst="line">
            <a:avLst/>
          </a:prstGeom>
          <a:ln cap="rnd" w="19050">
            <a:solidFill>
              <a:srgbClr val="2F2F2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62100" y="5943600"/>
            <a:ext cx="304800" cy="304800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38300" y="6019800"/>
            <a:ext cx="152400" cy="152400"/>
            <a:chOff x="0" y="0"/>
            <a:chExt cx="203200" cy="203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71500" y="4467225"/>
            <a:ext cx="2286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>
                <a:solidFill>
                  <a:srgbClr val="FF6A1A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500" y="5200650"/>
            <a:ext cx="304800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Thiết kế hệ thống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276850" y="5943600"/>
            <a:ext cx="304800" cy="304800"/>
            <a:chOff x="0" y="0"/>
            <a:chExt cx="406400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353050" y="6019800"/>
            <a:ext cx="152400" cy="152400"/>
            <a:chOff x="0" y="0"/>
            <a:chExt cx="203200" cy="203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4286250" y="4467225"/>
            <a:ext cx="2286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>
                <a:solidFill>
                  <a:srgbClr val="FF6A1A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05250" y="5200650"/>
            <a:ext cx="304800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module riêng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91600" y="5943600"/>
            <a:ext cx="304800" cy="304800"/>
            <a:chOff x="0" y="0"/>
            <a:chExt cx="4064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067800" y="6019800"/>
            <a:ext cx="152400" cy="152400"/>
            <a:chOff x="0" y="0"/>
            <a:chExt cx="203200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8001000" y="4467225"/>
            <a:ext cx="2286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>
                <a:solidFill>
                  <a:srgbClr val="FF6A1A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20000" y="5200650"/>
            <a:ext cx="304800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Tích hợp Node-RED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706350" y="5943600"/>
            <a:ext cx="304800" cy="304800"/>
            <a:chOff x="0" y="0"/>
            <a:chExt cx="4064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782550" y="6019800"/>
            <a:ext cx="152400" cy="152400"/>
            <a:chOff x="0" y="0"/>
            <a:chExt cx="203200" cy="203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715750" y="4467225"/>
            <a:ext cx="2286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>
                <a:solidFill>
                  <a:srgbClr val="FF6A1A"/>
                </a:solidFill>
                <a:latin typeface="Bebas Neue"/>
                <a:ea typeface="Bebas Neue"/>
                <a:cs typeface="Bebas Neue"/>
                <a:sym typeface="Bebas Neue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34750" y="5200650"/>
            <a:ext cx="304800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Lắp mô hình vật lý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421100" y="5943600"/>
            <a:ext cx="304800" cy="304800"/>
            <a:chOff x="0" y="0"/>
            <a:chExt cx="406400" cy="40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6497300" y="6019800"/>
            <a:ext cx="152400" cy="152400"/>
            <a:chOff x="0" y="0"/>
            <a:chExt cx="203200" cy="203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0D0D0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5430500" y="4467225"/>
            <a:ext cx="2286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>
                <a:solidFill>
                  <a:srgbClr val="FF6A1A"/>
                </a:solidFill>
                <a:latin typeface="Bebas Neue"/>
                <a:ea typeface="Bebas Neue"/>
                <a:cs typeface="Bebas Neue"/>
                <a:sym typeface="Bebas Neue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049500" y="5200650"/>
            <a:ext cx="3048000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9"/>
              </a:lnSpc>
            </a:pPr>
            <a:r>
              <a:rPr lang="en-US" sz="20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Hoàn thiện và demo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28650"/>
            <a:ext cx="133350" cy="133350"/>
            <a:chOff x="0" y="0"/>
            <a:chExt cx="177800" cy="177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137998" y="0"/>
                    <a:pt x="177800" y="39802"/>
                    <a:pt x="177800" y="88900"/>
                  </a:cubicBezTo>
                  <a:cubicBezTo>
                    <a:pt x="177800" y="137998"/>
                    <a:pt x="137998" y="177800"/>
                    <a:pt x="88900" y="177800"/>
                  </a:cubicBezTo>
                  <a:cubicBezTo>
                    <a:pt x="39802" y="177800"/>
                    <a:pt x="0" y="137998"/>
                    <a:pt x="0" y="88900"/>
                  </a:cubicBez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53340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330">
                <a:solidFill>
                  <a:srgbClr val="0D0D0D"/>
                </a:solidFill>
                <a:latin typeface="Bebas Neue"/>
                <a:ea typeface="Bebas Neue"/>
                <a:cs typeface="Bebas Neue"/>
                <a:sym typeface="Bebas Neue"/>
              </a:rPr>
              <a:t>GymTag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43954" y="542925"/>
            <a:ext cx="200104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Phân công công  việc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952500"/>
            <a:ext cx="16002000" cy="0"/>
          </a:xfrm>
          <a:prstGeom prst="line">
            <a:avLst/>
          </a:prstGeom>
          <a:ln cap="flat" w="9525">
            <a:solidFill>
              <a:srgbClr val="E2E0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1390650"/>
            <a:ext cx="762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412" b="true">
                <a:solidFill>
                  <a:srgbClr val="FF6A1A"/>
                </a:solidFill>
                <a:latin typeface="Barlow Bold"/>
                <a:ea typeface="Barlow Bold"/>
                <a:cs typeface="Barlow Bold"/>
                <a:sym typeface="Barlow Bold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1876425"/>
            <a:ext cx="133350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spc="54">
                <a:solidFill>
                  <a:srgbClr val="0D0D0D"/>
                </a:solidFill>
                <a:latin typeface="Barlow"/>
                <a:ea typeface="Barlow"/>
                <a:cs typeface="Barlow"/>
                <a:sym typeface="Barlow"/>
              </a:rPr>
              <a:t>PHÂN CÔNG CÔNG VIỆC NHÓM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048000"/>
            <a:ext cx="762000" cy="38100"/>
            <a:chOff x="0" y="0"/>
            <a:chExt cx="10160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3810000"/>
            <a:ext cx="16002000" cy="1619250"/>
            <a:chOff x="0" y="0"/>
            <a:chExt cx="21336000" cy="2159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1336000" cy="2159000"/>
              <a:chOff x="0" y="0"/>
              <a:chExt cx="21336000" cy="2159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336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1336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6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635000" y="444500"/>
              <a:ext cx="1270000" cy="1270000"/>
              <a:chOff x="0" y="0"/>
              <a:chExt cx="1270000" cy="127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635000" y="774065"/>
              <a:ext cx="1270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6A1A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438400" y="802640"/>
              <a:ext cx="635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Vũ Trần Minh Hiếu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9906000" y="431800"/>
              <a:ext cx="11176000" cy="1170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4"/>
                </a:lnSpc>
              </a:pPr>
              <a:r>
                <a:rPr lang="en-US" sz="2449">
                  <a:solidFill>
                    <a:srgbClr val="0D0D0D"/>
                  </a:solidFill>
                  <a:latin typeface="Barlow"/>
                  <a:ea typeface="Barlow"/>
                  <a:cs typeface="Barlow"/>
                  <a:sym typeface="Barlow"/>
                </a:rPr>
                <a:t>Cảm biến môi trường (đọc dữ liệu, gửi lên hệ thống) + Tích hợp toàn bộ hệ thống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3000" y="5657850"/>
            <a:ext cx="16002000" cy="1619250"/>
            <a:chOff x="0" y="0"/>
            <a:chExt cx="21336000" cy="2159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1336000" cy="2159000"/>
              <a:chOff x="0" y="0"/>
              <a:chExt cx="21336000" cy="2159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336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1336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635000" y="444500"/>
              <a:ext cx="1270000" cy="1270000"/>
              <a:chOff x="0" y="0"/>
              <a:chExt cx="1270000" cy="1270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635000" y="774065"/>
              <a:ext cx="1270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6A1A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02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438400" y="802640"/>
              <a:ext cx="635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Hoàng Đức Thịnh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9887107" y="764540"/>
              <a:ext cx="11176000" cy="561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4"/>
                </a:lnSpc>
              </a:pPr>
              <a:r>
                <a:rPr lang="en-US" sz="2449">
                  <a:solidFill>
                    <a:srgbClr val="0D0D0D"/>
                  </a:solidFill>
                  <a:latin typeface="Barlow"/>
                  <a:ea typeface="Barlow"/>
                  <a:cs typeface="Barlow"/>
                  <a:sym typeface="Barlow"/>
                </a:rPr>
                <a:t>Node-RED dashboard toàn bộ + Check-in/out cửa chính + LCD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43000" y="7505700"/>
            <a:ext cx="16002000" cy="1619250"/>
            <a:chOff x="0" y="0"/>
            <a:chExt cx="21336000" cy="2159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21336000" cy="2159000"/>
              <a:chOff x="0" y="0"/>
              <a:chExt cx="21336000" cy="2159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3360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21336000">
                    <a:moveTo>
                      <a:pt x="0" y="0"/>
                    </a:moveTo>
                    <a:lnTo>
                      <a:pt x="21336000" y="0"/>
                    </a:lnTo>
                    <a:lnTo>
                      <a:pt x="213360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2E0DA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213360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101600" cy="2159000"/>
              <a:chOff x="0" y="0"/>
              <a:chExt cx="101600" cy="2159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1600" cy="2159000"/>
              </a:xfrm>
              <a:custGeom>
                <a:avLst/>
                <a:gdLst/>
                <a:ahLst/>
                <a:cxnLst/>
                <a:rect r="r" b="b" t="t" l="l"/>
                <a:pathLst>
                  <a:path h="21590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2159000"/>
                    </a:lnTo>
                    <a:lnTo>
                      <a:pt x="0" y="2159000"/>
                    </a:lnTo>
                    <a:close/>
                  </a:path>
                </a:pathLst>
              </a:custGeom>
              <a:solidFill>
                <a:srgbClr val="FF6A1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01600" cy="219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35000" y="444500"/>
              <a:ext cx="1270000" cy="1270000"/>
              <a:chOff x="0" y="0"/>
              <a:chExt cx="1270000" cy="1270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0D0D0D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5" id="45"/>
            <p:cNvSpPr txBox="true"/>
            <p:nvPr/>
          </p:nvSpPr>
          <p:spPr>
            <a:xfrm rot="0">
              <a:off x="635000" y="774065"/>
              <a:ext cx="1270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FF6A1A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03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413000" y="828040"/>
              <a:ext cx="635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D0D0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Trần Viết Bảo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9924893" y="572770"/>
              <a:ext cx="11176000" cy="11709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4"/>
                </a:lnSpc>
              </a:pPr>
              <a:r>
                <a:rPr lang="en-US" sz="2449">
                  <a:solidFill>
                    <a:srgbClr val="0D0D0D"/>
                  </a:solidFill>
                  <a:latin typeface="Barlow"/>
                  <a:ea typeface="Barlow"/>
                  <a:cs typeface="Barlow"/>
                  <a:sym typeface="Barlow"/>
                </a:rPr>
                <a:t>Firebase (lưu trữ dữ liệu) + Telegram cảnh báo + Gán/trả Locker + Kiểm tra hạn thành viên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2457450"/>
            <a:ext cx="9805250" cy="520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0"/>
              </a:lnSpc>
            </a:pPr>
            <a:r>
              <a:rPr lang="en-US" sz="39000" spc="-780">
                <a:solidFill>
                  <a:srgbClr val="FF6A1A"/>
                </a:solidFill>
                <a:latin typeface="Barlow"/>
                <a:ea typeface="Barlow"/>
                <a:cs typeface="Barlow"/>
                <a:sym typeface="Barlow"/>
              </a:rPr>
              <a:t>Q&amp;A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0" y="3086100"/>
            <a:ext cx="76200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CẢM 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0" y="3943350"/>
            <a:ext cx="7620000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QUÝ THẦY/CÔ VÀ CÁC BẠN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0" y="5524500"/>
            <a:ext cx="762000" cy="38100"/>
            <a:chOff x="0" y="0"/>
            <a:chExt cx="1016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" cy="50800"/>
            </a:xfrm>
            <a:custGeom>
              <a:avLst/>
              <a:gdLst/>
              <a:ahLst/>
              <a:cxnLst/>
              <a:rect r="r" b="b" t="t" l="l"/>
              <a:pathLst>
                <a:path h="508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1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0" y="5838825"/>
            <a:ext cx="74295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CFCFCF"/>
                </a:solidFill>
                <a:latin typeface="Barlow"/>
                <a:ea typeface="Barlow"/>
                <a:cs typeface="Barlow"/>
                <a:sym typeface="Barlow"/>
              </a:rPr>
              <a:t>Nhóm 6 xin mời quý Thầy/Cô và các bạn đặt câu hỏi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0" y="7781925"/>
            <a:ext cx="7429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450">
                <a:solidFill>
                  <a:srgbClr val="FF6A1A"/>
                </a:solidFill>
                <a:latin typeface="Barlow"/>
                <a:ea typeface="Barlow"/>
                <a:cs typeface="Barlow"/>
                <a:sym typeface="Barlow"/>
              </a:rPr>
              <a:t>GymTag  -  Nhóm 6  -  Vật lý cho Công nghệ thông tin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228600" cy="10287000"/>
            <a:chOff x="0" y="0"/>
            <a:chExt cx="3048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6A1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48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9686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35">
                <a:solidFill>
                  <a:srgbClr val="6B6B6B"/>
                </a:solidFill>
                <a:latin typeface="Barlow"/>
                <a:ea typeface="Barlow"/>
                <a:cs typeface="Barlow"/>
                <a:sym typeface="Barlow"/>
              </a:rPr>
              <a:t>Vật lý cho Công nghệ thông tin - Proposal đồ 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DAHRJBW9MtY</dc:identifier>
  <dcterms:modified xsi:type="dcterms:W3CDTF">2011-08-01T06:04:30Z</dcterms:modified>
  <cp:revision>1</cp:revision>
  <dc:title>Vật lý IOT</dc:title>
</cp:coreProperties>
</file>